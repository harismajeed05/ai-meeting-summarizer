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://www.ambysoft.com/surveys/" TargetMode="Externa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What is a Successful Software Project?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Dr. Dobb’s Journal 2013 IT Project Success Survey </a:t>
            </a:r>
            <a:r>
              <a:rPr lang="en-US" dirty="0">
                <a:sym typeface="+mn-ea"/>
              </a:rPr>
              <a:t>posted at</a:t>
            </a:r>
            <a:endParaRPr lang="en-US" dirty="0">
              <a:sym typeface="+mn-ea"/>
            </a:endParaRPr>
          </a:p>
          <a:p>
            <a:r>
              <a:rPr lang="en-US" dirty="0" smtClean="0">
                <a:sym typeface="+mn-ea"/>
                <a:hlinkClick r:id="rId1"/>
              </a:rPr>
              <a:t>www.ambysoft.com/surveys/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Time (deliver </a:t>
            </a:r>
            <a:r>
              <a:rPr lang="en-US" b="1"/>
              <a:t>according to schedule </a:t>
            </a:r>
            <a:r>
              <a:rPr lang="en-US">
                <a:solidFill>
                  <a:srgbClr val="FF0000"/>
                </a:solidFill>
              </a:rPr>
              <a:t>vs.</a:t>
            </a:r>
            <a:r>
              <a:rPr lang="en-US"/>
              <a:t> </a:t>
            </a:r>
            <a:r>
              <a:rPr lang="en-US" b="1"/>
              <a:t>when the SW is ready to be shipped</a:t>
            </a:r>
            <a:r>
              <a:rPr lang="en-US"/>
              <a:t>)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1302385" y="1825625"/>
          <a:ext cx="9902190" cy="435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8257540" imgH="4600575" progId="Paint.Picture">
                  <p:embed/>
                </p:oleObj>
              </mc:Choice>
              <mc:Fallback>
                <p:oleObj name="" r:id="rId2" imgW="8257540" imgH="4600575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2385" y="1825625"/>
                        <a:ext cx="9902190" cy="4351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Money (</a:t>
            </a:r>
            <a:r>
              <a:rPr lang="en-US" b="1"/>
              <a:t>deliver on or under budget</a:t>
            </a: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vs.</a:t>
            </a:r>
            <a:r>
              <a:rPr lang="en-US"/>
              <a:t> </a:t>
            </a:r>
            <a:r>
              <a:rPr lang="en-US" b="1"/>
              <a:t>providing the best ROI</a:t>
            </a:r>
            <a:r>
              <a:rPr lang="en-US"/>
              <a:t>)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913765" y="1910080"/>
          <a:ext cx="10354945" cy="418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8219440" imgH="4181475" progId="Paint.Picture">
                  <p:embed/>
                </p:oleObj>
              </mc:Choice>
              <mc:Fallback>
                <p:oleObj name="" r:id="rId2" imgW="8219440" imgH="4181475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3765" y="1910080"/>
                        <a:ext cx="10354945" cy="418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Value (</a:t>
            </a:r>
            <a:r>
              <a:rPr lang="en-US" b="1"/>
              <a:t>Building to the Specs.</a:t>
            </a: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vs.</a:t>
            </a:r>
            <a:r>
              <a:rPr lang="en-US"/>
              <a:t> </a:t>
            </a:r>
            <a:r>
              <a:rPr lang="en-US" b="1"/>
              <a:t>meeting the actual needs of stakeholders</a:t>
            </a:r>
            <a:r>
              <a:rPr lang="en-US"/>
              <a:t>)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946150" y="2043430"/>
          <a:ext cx="10407015" cy="404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8276590" imgH="3914775" progId="Paint.Picture">
                  <p:embed/>
                </p:oleObj>
              </mc:Choice>
              <mc:Fallback>
                <p:oleObj name="" r:id="rId2" imgW="8276590" imgH="3914775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6150" y="2043430"/>
                        <a:ext cx="10407015" cy="4046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Quality (</a:t>
            </a:r>
            <a:r>
              <a:rPr lang="en-US" b="1"/>
              <a:t>Delivering on time and on budget</a:t>
            </a: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vs.</a:t>
            </a:r>
            <a:r>
              <a:rPr lang="en-US"/>
              <a:t> </a:t>
            </a:r>
            <a:r>
              <a:rPr lang="en-US" b="1"/>
              <a:t>high quality and maintainable system</a:t>
            </a:r>
            <a:r>
              <a:rPr lang="en-US"/>
              <a:t>)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756285" y="1976755"/>
          <a:ext cx="10344150" cy="40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8305165" imgH="4048125" progId="Paint.Picture">
                  <p:embed/>
                </p:oleObj>
              </mc:Choice>
              <mc:Fallback>
                <p:oleObj name="" r:id="rId2" imgW="8305165" imgH="4048125" progId="Paint.Picture">
                  <p:embed/>
                  <p:pic>
                    <p:nvPicPr>
                      <p:cNvPr id="0" name="Picture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6285" y="1976755"/>
                        <a:ext cx="10344150" cy="404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WPS Presentation</Application>
  <PresentationFormat>Widescreen</PresentationFormat>
  <Paragraphs>13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Paint.Picture</vt:lpstr>
      <vt:lpstr>Paint.Picture</vt:lpstr>
      <vt:lpstr>Paint.Picture</vt:lpstr>
      <vt:lpstr>Paint.Picture</vt:lpstr>
      <vt:lpstr>What is a Successful Software Project?</vt:lpstr>
      <vt:lpstr>Time (deliver according to schedule vs. when the SW is ready to be shipped)</vt:lpstr>
      <vt:lpstr>Money (deliver on or under budget vs. providing the best ROI)</vt:lpstr>
      <vt:lpstr>Value (Building to the Specs. vs. meeting the actual needs of stakeholders)</vt:lpstr>
      <vt:lpstr>Quality (Delivering on time and on budget vs. high quality and maintainable system)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Successful Project?</dc:title>
  <dc:creator>Yasar Mehmood</dc:creator>
  <cp:lastModifiedBy>Yasar Mehmood</cp:lastModifiedBy>
  <cp:revision>32</cp:revision>
  <dcterms:created xsi:type="dcterms:W3CDTF">2024-06-19T11:33:00Z</dcterms:created>
  <dcterms:modified xsi:type="dcterms:W3CDTF">2025-08-17T06:44:45Z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725FC53944C94557AE4F24EC9A225644_13</vt:lpwstr>
  </property>
  <property fmtid="{D5CDD505-2E9C-101B-9397-08002B2CF9AE}" pid="3" name="KSOProductBuildVer">
    <vt:lpwstr>1033-12.2.0.21931</vt:lpwstr>
  </property>
</Properties>
</file>